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" charset="1" panose="020B0500040000020004"/>
      <p:regular r:id="rId15"/>
    </p:embeddedFont>
    <p:embeddedFont>
      <p:font typeface="Georgia Pro Condensed" charset="1" panose="02040506050405020303"/>
      <p:regular r:id="rId16"/>
    </p:embeddedFont>
    <p:embeddedFont>
      <p:font typeface="Helvetica World Bold" charset="1" panose="020B0800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4A6FA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8382635"/>
            <a:ext cx="6886575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Lohitha V</a:t>
            </a:r>
          </a:p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22MIA1152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46493"/>
            <a:ext cx="9754495" cy="695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53"/>
              </a:lnSpc>
            </a:pPr>
            <a:r>
              <a:rPr lang="en-US" sz="13553" spc="-474" strike="noStrike" u="none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Early Detection of Student Burnout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B26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1597" y="3465194"/>
            <a:ext cx="8540003" cy="579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sz="3299" spc="-49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Students show e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arly behavioural signs of burnout and disengagement.</a:t>
            </a: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Universities notice pro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ms 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after 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drop, making intervention difficult.</a:t>
            </a: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Need a system to detect:</a:t>
            </a:r>
          </a:p>
          <a:p>
            <a:pPr algn="l">
              <a:lnSpc>
                <a:spcPts val="4619"/>
              </a:lnSpc>
            </a:pP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Burnout Risk</a:t>
            </a:r>
          </a:p>
          <a:p>
            <a:pPr algn="l">
              <a:lnSpc>
                <a:spcPts val="4619"/>
              </a:lnSpc>
            </a:pP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Academic Disengagement</a:t>
            </a:r>
          </a:p>
          <a:p>
            <a:pPr algn="l">
              <a:lnSpc>
                <a:spcPts val="4619"/>
              </a:lnSpc>
            </a:pP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 </a:t>
            </a: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Dropout Probability</a:t>
            </a: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sz="3299" spc="-49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behaviour patterns, not marks.</a:t>
            </a:r>
          </a:p>
          <a:p>
            <a:pPr algn="l" marL="0" indent="0" lvl="0">
              <a:lnSpc>
                <a:spcPts val="461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9879" y="3408979"/>
            <a:ext cx="6612300" cy="615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277" indent="-373138" lvl="1">
              <a:lnSpc>
                <a:spcPts val="4839"/>
              </a:lnSpc>
              <a:buFont typeface="Arial"/>
              <a:buChar char="•"/>
            </a:pPr>
            <a:r>
              <a:rPr lang="en-US" b="true" sz="3456" spc="-51" strike="noStrike" u="none">
                <a:solidFill>
                  <a:srgbClr val="E7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Behavioural:</a:t>
            </a:r>
            <a:r>
              <a:rPr lang="en-US" sz="3456" spc="-51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LMS logins, attendance rates,submission delay,inactivity gap,Night activity gap and study time variance</a:t>
            </a:r>
          </a:p>
          <a:p>
            <a:pPr algn="l" marL="725547" indent="-362774" lvl="1">
              <a:lnSpc>
                <a:spcPts val="4704"/>
              </a:lnSpc>
              <a:buFont typeface="Arial"/>
              <a:buChar char="•"/>
            </a:pPr>
            <a:r>
              <a:rPr lang="en-US" b="true" sz="3360" spc="-50" strike="noStrike" u="none">
                <a:solidFill>
                  <a:srgbClr val="E7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Psychological:</a:t>
            </a:r>
            <a:r>
              <a:rPr lang="en-US" sz="3360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Sentiment analysis from student feedback responses</a:t>
            </a:r>
          </a:p>
          <a:p>
            <a:pPr algn="l" marL="725547" indent="-362774" lvl="1">
              <a:lnSpc>
                <a:spcPts val="4704"/>
              </a:lnSpc>
              <a:buFont typeface="Arial"/>
              <a:buChar char="•"/>
            </a:pPr>
            <a:r>
              <a:rPr lang="en-US" b="true" sz="3360" spc="-50" strike="noStrike" u="none">
                <a:solidFill>
                  <a:srgbClr val="E7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Academic:</a:t>
            </a:r>
            <a:r>
              <a:rPr lang="en-US" sz="3360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Historical GPA, drop rates, and submission delays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81025"/>
            <a:ext cx="68865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Data Features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441825"/>
            <a:ext cx="6886575" cy="517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b="true" sz="3199" spc="-47" strike="noStrike" u="none">
                <a:solidFill>
                  <a:srgbClr val="E7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Random Forest Classifier</a:t>
            </a:r>
            <a:r>
              <a:rPr lang="en-US" sz="3199" spc="-47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accurate burnout predictions and classifications.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b="true" sz="3199" spc="-47" strike="noStrike" u="none">
                <a:solidFill>
                  <a:srgbClr val="E7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XGBoost Regression</a:t>
            </a:r>
            <a:r>
              <a:rPr lang="en-US" sz="3199" spc="-47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employed to assess dropout probabilities effectively.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b="true" sz="3199" spc="-47" strike="noStrike" u="none">
                <a:solidFill>
                  <a:srgbClr val="E7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K-Means Clustering</a:t>
            </a:r>
            <a:r>
              <a:rPr lang="en-US" sz="3199" spc="-47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used to identify distinct behavioural groupings.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81025"/>
            <a:ext cx="6886575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Predictive Modelling Techniques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B26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955268" y="1676400"/>
            <a:ext cx="11983788" cy="7855751"/>
          </a:xfrm>
          <a:custGeom>
            <a:avLst/>
            <a:gdLst/>
            <a:ahLst/>
            <a:cxnLst/>
            <a:rect r="r" b="b" t="t" l="l"/>
            <a:pathLst>
              <a:path h="7855751" w="11983788">
                <a:moveTo>
                  <a:pt x="0" y="0"/>
                </a:moveTo>
                <a:lnTo>
                  <a:pt x="11983788" y="0"/>
                </a:lnTo>
                <a:lnTo>
                  <a:pt x="11983788" y="7855751"/>
                </a:lnTo>
                <a:lnTo>
                  <a:pt x="0" y="7855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3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System Architecture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3832226"/>
            <a:ext cx="6299181" cy="682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2"/>
              </a:lnSpc>
            </a:pPr>
            <a:r>
              <a:rPr lang="en-US" sz="3201" spc="-48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nd-to-End Pipeline:</a:t>
            </a:r>
          </a:p>
          <a:p>
            <a:pPr algn="l" marL="0" indent="0" lvl="0">
              <a:lnSpc>
                <a:spcPts val="4482"/>
              </a:lnSpc>
            </a:pPr>
          </a:p>
          <a:p>
            <a:pPr algn="l" marL="691191" indent="-345596" lvl="1">
              <a:lnSpc>
                <a:spcPts val="4482"/>
              </a:lnSpc>
              <a:buAutoNum type="arabicPeriod" startAt="1"/>
            </a:pP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Loading</a:t>
            </a:r>
          </a:p>
          <a:p>
            <a:pPr algn="l" marL="691191" indent="-345596" lvl="1">
              <a:lnSpc>
                <a:spcPts val="4482"/>
              </a:lnSpc>
              <a:buAutoNum type="arabicPeriod" startAt="1"/>
            </a:pP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Cleaning</a:t>
            </a:r>
          </a:p>
          <a:p>
            <a:pPr algn="l" marL="691191" indent="-345596" lvl="1">
              <a:lnSpc>
                <a:spcPts val="4482"/>
              </a:lnSpc>
              <a:buAutoNum type="arabicPeriod" startAt="1"/>
            </a:pP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 Engineering</a:t>
            </a:r>
          </a:p>
          <a:p>
            <a:pPr algn="l" marL="1382382" indent="-460794" lvl="2">
              <a:lnSpc>
                <a:spcPts val="4482"/>
              </a:lnSpc>
              <a:buFont typeface="Arial"/>
              <a:buChar char="⚬"/>
            </a:pP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Engagement Index</a:t>
            </a:r>
          </a:p>
          <a:p>
            <a:pPr algn="l" marL="1382382" indent="-460794" lvl="2">
              <a:lnSpc>
                <a:spcPts val="4482"/>
              </a:lnSpc>
              <a:buFont typeface="Arial"/>
              <a:buChar char="⚬"/>
            </a:pP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Stress Score</a:t>
            </a:r>
          </a:p>
          <a:p>
            <a:pPr algn="l" marL="691191" indent="-345596" lvl="1">
              <a:lnSpc>
                <a:spcPts val="4482"/>
              </a:lnSpc>
              <a:buAutoNum type="arabicPeriod" startAt="1"/>
            </a:pP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ML Modelling</a:t>
            </a:r>
          </a:p>
          <a:p>
            <a:pPr algn="l" marL="691191" indent="-345596" lvl="1">
              <a:lnSpc>
                <a:spcPts val="4482"/>
              </a:lnSpc>
              <a:buAutoNum type="arabicPeriod" startAt="1"/>
            </a:pP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Evaluation</a:t>
            </a:r>
          </a:p>
          <a:p>
            <a:pPr algn="l" marL="691191" indent="-345596" lvl="1">
              <a:lnSpc>
                <a:spcPts val="4482"/>
              </a:lnSpc>
              <a:buAutoNum type="arabicPeriod" startAt="1"/>
            </a:pP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Dashboard</a:t>
            </a:r>
          </a:p>
          <a:p>
            <a:pPr algn="l" marL="691191" indent="-345596" lvl="1">
              <a:lnSpc>
                <a:spcPts val="4482"/>
              </a:lnSpc>
              <a:buAutoNum type="arabicPeriod" startAt="1"/>
            </a:pPr>
            <a:r>
              <a:rPr lang="en-US" sz="3201" spc="-48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Insights</a:t>
            </a:r>
          </a:p>
          <a:p>
            <a:pPr algn="l" marL="0" indent="0" lvl="0">
              <a:lnSpc>
                <a:spcPts val="448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B26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2277109"/>
            <a:ext cx="6886575" cy="734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sz="3399" spc="-50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rnout Model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Accuracy: ~80–85%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igh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-imp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 feat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ur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es: 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ttendan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e, delays, sentiment</a:t>
            </a:r>
          </a:p>
          <a:p>
            <a:pPr algn="l" marL="0" indent="0" lvl="0">
              <a:lnSpc>
                <a:spcPts val="4759"/>
              </a:lnSpc>
            </a:pP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Dropout Model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Low error values (MAE, RMSE)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Strong prediction confidence</a:t>
            </a:r>
          </a:p>
          <a:p>
            <a:pPr algn="l" marL="0" indent="0" lvl="0">
              <a:lnSpc>
                <a:spcPts val="4759"/>
              </a:lnSpc>
            </a:pP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Clustering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 clear behavioural groups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 spc="-50" strike="noStrike" u="none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At-risk students strongly match burnout indicators</a:t>
            </a:r>
          </a:p>
          <a:p>
            <a:pPr algn="l" marL="0" indent="0" lvl="0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4A6FA5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C7D1E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Behavioural Insights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C7D1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Linking Patterns to Burnout Risks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C7D1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Attendance Rates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7EA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Low attendance rates directly correlate with higher burnout levels, indicating students are disengaged and struggling to keep up, necessitating early intervention to support their academic journey.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C7D1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Submission Delays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7EA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Frequent submission delays signal potential burnout, suggesting students are overwhelmed and unable to manage their workload effectively, highlighting the need for timely assistance and resources.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C7D1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Negative Sentiment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7EA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Negative sentiments expressed in student feedback are strong indicators of burnout, reflecting emotional distress that can lead to disengagement and dropout if not addressed promptly.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260" t="0" r="-26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260" t="0" r="-26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260" t="0" r="-26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73471"/>
            <a:ext cx="4738234" cy="55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7"/>
              </a:lnSpc>
            </a:pPr>
            <a:r>
              <a:rPr lang="en-US" sz="1591" spc="-23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Early support allows students to thrive academically and manage their emotional well-being effectively.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For Students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273471"/>
            <a:ext cx="4741615" cy="55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7"/>
              </a:lnSpc>
            </a:pPr>
            <a:r>
              <a:rPr lang="en-US" sz="1591" spc="-23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Faculty can identify at-risk students quickly, enabling timely interventions and support strategies.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For Faculty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72319"/>
            <a:ext cx="4691983" cy="55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7"/>
              </a:lnSpc>
            </a:pPr>
            <a:r>
              <a:rPr lang="en-US" sz="1591" spc="-23">
                <a:solidFill>
                  <a:srgbClr val="E7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Enhancing retention rates through data-driven insights benefits the institution's overall academic performance.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For Institutions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Practical Impact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C7D1E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03759" y="876300"/>
            <a:ext cx="8317491" cy="308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75"/>
              </a:lnSpc>
            </a:pPr>
            <a:r>
              <a:rPr lang="en-US" sz="11775" spc="-412">
                <a:solidFill>
                  <a:srgbClr val="C7D1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Future Enhancements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03759" y="4192588"/>
            <a:ext cx="8454557" cy="542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2968" indent="-476484" lvl="1">
              <a:lnSpc>
                <a:spcPts val="6179"/>
              </a:lnSpc>
              <a:buFont typeface="Arial"/>
              <a:buChar char="•"/>
            </a:pPr>
            <a:r>
              <a:rPr lang="en-US" sz="4413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Real-time LMS integration</a:t>
            </a:r>
          </a:p>
          <a:p>
            <a:pPr algn="l" marL="952968" indent="-476484" lvl="1">
              <a:lnSpc>
                <a:spcPts val="6179"/>
              </a:lnSpc>
              <a:buFont typeface="Arial"/>
              <a:buChar char="•"/>
            </a:pPr>
            <a:r>
              <a:rPr lang="en-US" sz="4413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Emotional analytics (voice/face)</a:t>
            </a:r>
          </a:p>
          <a:p>
            <a:pPr algn="l" marL="952968" indent="-476484" lvl="1">
              <a:lnSpc>
                <a:spcPts val="6179"/>
              </a:lnSpc>
              <a:buFont typeface="Arial"/>
              <a:buChar char="•"/>
            </a:pPr>
            <a:r>
              <a:rPr lang="en-US" sz="4413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AI-based early alerts</a:t>
            </a:r>
          </a:p>
          <a:p>
            <a:pPr algn="l" marL="952968" indent="-476484" lvl="1">
              <a:lnSpc>
                <a:spcPts val="6179"/>
              </a:lnSpc>
              <a:buFont typeface="Arial"/>
              <a:buChar char="•"/>
            </a:pPr>
            <a:r>
              <a:rPr lang="en-US" sz="4413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Personalized student recommendations</a:t>
            </a:r>
          </a:p>
          <a:p>
            <a:pPr algn="l" marL="952968" indent="-476484" lvl="1">
              <a:lnSpc>
                <a:spcPts val="6179"/>
              </a:lnSpc>
              <a:buFont typeface="Arial"/>
              <a:buChar char="•"/>
            </a:pPr>
            <a:r>
              <a:rPr lang="en-US" sz="4413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Long-term behaviour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Early Detection of Student Burnout</dc:description>
  <dc:identifier>DAHCoyzEkt8</dc:identifier>
  <dcterms:modified xsi:type="dcterms:W3CDTF">2011-08-01T06:04:30Z</dcterms:modified>
  <cp:revision>1</cp:revision>
  <dc:title>Presentation - Early Detection of Student Burnout</dc:title>
</cp:coreProperties>
</file>